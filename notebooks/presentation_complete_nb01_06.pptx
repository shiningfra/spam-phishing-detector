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640080"/>
            <a:ext cx="256032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640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1, 2 &amp; 3 — NB 01 À 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Spam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 Phishing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· Prétraitement · ML · Deep Learning · Pipeline · API 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520440"/>
            <a:ext cx="54864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657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Nghogué Taptué Franck Roddier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5GI  ·  École Nationale Supérieure Polytechnique de Yaoundé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1097280"/>
            <a:ext cx="1463040" cy="4114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2148840"/>
            <a:ext cx="1463040" cy="41148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463040" cy="4114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des 6 notebooks — 3 semaines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777240" cy="5669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144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8448" y="9875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&amp; Exploration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12435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· EDA · Distribution des classes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72768"/>
            <a:ext cx="777240" cy="5669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727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8448" y="164592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&amp;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19019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· TF-IDF · Features URL · SMOTE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231136"/>
            <a:ext cx="841248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31136"/>
            <a:ext cx="777240" cy="5669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3113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98448" y="230428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 Classiques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2560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 · LR · SVM · RF · Évaluation · Sélection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89504"/>
            <a:ext cx="841248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89504"/>
            <a:ext cx="777240" cy="5669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8950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98448" y="29626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DistilBERT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98448" y="32186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· Comparaison · Cas difficiles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47872"/>
            <a:ext cx="777240" cy="56692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4787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98448" y="36210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Hybride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98448" y="38770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+ Headers + ML + BERT · Score de confiance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206240"/>
            <a:ext cx="777240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06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98448" y="427939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&amp; Rapport final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98448" y="45354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Tests adversariaux · Déploiement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&amp; Exploration des Données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  ·  Objectif : comprendre et caractériser les données brutes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651760" cy="13716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 · Enron (Kaggle) · Nazario Phishing Corpus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737360"/>
            <a:ext cx="2651760" cy="13716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737360"/>
            <a:ext cx="265176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cibles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(légitimes) · Spam (pub/arnaque) · Phishing (hameçonnage)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651760" cy="13716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737360"/>
            <a:ext cx="265176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Longueurs · Features brutes · WordClouds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8412480" cy="38404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46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emails_raw.csv  (texte brut + labels + features brutes)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 : §1.3 déséquilibre des classes (phishing ~7-10%) · §1.2 concept drift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01 — Analyse Exploratoire (EDA)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brutes et leur pouvoir discriminant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291840"/>
        </p:xfrm>
        <a:graphic>
          <a:graphicData uri="http://schemas.openxmlformats.org/drawingml/2006/table">
            <a:tbl>
              <a:tblPr/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5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7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Interprétation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URLs /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= beaucoup de liens suspects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(!) /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= sensationnalisme 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MAJUSCULES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= cris visuels (GRATUIT, URGENT…)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brute dans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marqueur phishing (http://x.x.x.x/login)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Formatting HTML = signal de message formaté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3434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Ces features guident la sélection des features engineering au NB 02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&amp; 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  ·  Objectif : transformer le texte brut en représentation numérique exploitable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1554480" cy="18288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10512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URLs → tokens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· lemmatisation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2651760"/>
            <a:ext cx="155448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1737360"/>
            <a:ext cx="1554480" cy="18288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78608" y="1810512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2140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21408" y="27249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unigrammes + bigrammes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84448" y="2651760"/>
            <a:ext cx="155448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9896" y="1737360"/>
            <a:ext cx="1554480" cy="18288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88536" y="1810512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8853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31336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URL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31336" y="27249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indicateurs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· IP · marques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94376" y="2651760"/>
            <a:ext cx="155448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9824" y="1737360"/>
            <a:ext cx="1554480" cy="18288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98464" y="1810512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9846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41264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1264" y="27249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uniquement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04304" y="2651760"/>
            <a:ext cx="155448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9752" y="1737360"/>
            <a:ext cx="1554480" cy="18288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08392" y="1810512"/>
            <a:ext cx="457200" cy="4572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51192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51192" y="27249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 · Val 15%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 stratifié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730752"/>
            <a:ext cx="8503920" cy="6858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730752"/>
            <a:ext cx="54864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673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X_train/val/test.npz · y_*.npy · tfidf_vectorizer.pkl · label_encoder.pkl · class_weights.pkl · emails_features.csv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 Classiques &amp; Sélection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  ·  4 modèles · Évaluation multidimensionnelle · LinearSVC sélectionné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(validation)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NB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2048256"/>
            <a:ext cx="1909267" cy="274320"/>
          </a:xfrm>
          <a:prstGeom prst="rect">
            <a:avLst/>
          </a:prstGeom>
          <a:solidFill>
            <a:srgbClr val="1BB5C5"/>
          </a:solidFill>
          <a:ln w="12700">
            <a:solidFill>
              <a:srgbClr val="1BB5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9507" y="19933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2706624"/>
            <a:ext cx="199705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7290" y="26517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310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74520" y="3364992"/>
            <a:ext cx="2040941" cy="274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1181" y="3310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968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4023360"/>
            <a:ext cx="1953158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3398" y="3968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(ms)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NB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048256"/>
            <a:ext cx="80467" cy="274320"/>
          </a:xfrm>
          <a:prstGeom prst="rect">
            <a:avLst/>
          </a:prstGeom>
          <a:solidFill>
            <a:srgbClr val="1BB5C5"/>
          </a:solidFill>
          <a:ln w="12700">
            <a:solidFill>
              <a:srgbClr val="1BB5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8387" y="19933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2651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706624"/>
            <a:ext cx="120701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8621" y="26517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 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3310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364992"/>
            <a:ext cx="50292" cy="274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8212" y="33101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968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023360"/>
            <a:ext cx="1810512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39684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 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34840" y="1664208"/>
            <a:ext cx="0" cy="2743200"/>
          </a:xfrm>
          <a:prstGeom prst="line">
            <a:avLst/>
          </a:prstGeom>
          <a:noFill/>
          <a:ln w="6350">
            <a:solidFill>
              <a:srgbClr val="1BB5C5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572000"/>
            <a:ext cx="54864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sélectionné : F1-macro 0.93, latence 0.05ms, overfitting gap &lt; 0.02 (CV 5-fold) — 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sauvegardé dans best_model.pkl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Fine-tuning DistilBERT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  ·  Contexte sémantique bidirectionnel · 4 époques · Early stopping · LR=2e-5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91640"/>
          <a:ext cx="8503920" cy="246888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 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B5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LinearSVC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7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7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279392"/>
            <a:ext cx="8503920" cy="50292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4279392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NB 05 :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en temps réel (0.05ms) + DistilBERT sur les cas à confiance &lt; 70% → meilleur compromis performance/latence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Hybride — 4 Couches de Protection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  ·  §5.4 du cahier de charges  ·  Combiner règles + ML + analyse réseau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8503920" cy="65836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91640"/>
            <a:ext cx="457200" cy="6583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647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heuristiques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0208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suspectes · TLDs · IP brutes · Unicode invisible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1ms — filtre les cas évidents sans 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1837944"/>
            <a:ext cx="1005840" cy="365760"/>
          </a:xfrm>
          <a:prstGeom prst="rect">
            <a:avLst/>
          </a:prstGeom>
          <a:solidFill>
            <a:srgbClr val="BA7517">
              <a:alpha val="30000"/>
            </a:srgbClr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8379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8503920" cy="65836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68880"/>
            <a:ext cx="457200" cy="6583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542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headers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980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· DKIM · DMARC · spoofing domaine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≠ Reply-To → alerte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0" y="2615184"/>
            <a:ext cx="1005840" cy="365760"/>
          </a:xfrm>
          <a:prstGeom prst="rect">
            <a:avLst/>
          </a:prstGeom>
          <a:solidFill>
            <a:srgbClr val="D85A30">
              <a:alpha val="30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615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8503920" cy="65836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46120"/>
            <a:ext cx="457200" cy="6583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461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33192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(LinearSVC)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5753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+ 19 features structurelles · 0.05ms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10k + features URL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3392424"/>
            <a:ext cx="1005840" cy="365760"/>
          </a:xfrm>
          <a:prstGeom prst="rect">
            <a:avLst/>
          </a:prstGeom>
          <a:solidFill>
            <a:srgbClr val="7F77DD">
              <a:alpha val="30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392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4023360"/>
            <a:ext cx="8503920" cy="65836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023360"/>
            <a:ext cx="4572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0233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40965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(optionnel)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3525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cas confiance &lt; 70%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sémantique complet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4169664"/>
            <a:ext cx="1005840" cy="365760"/>
          </a:xfrm>
          <a:prstGeom prst="rect">
            <a:avLst/>
          </a:prstGeom>
          <a:solidFill>
            <a:srgbClr val="0A7E8C">
              <a:alpha val="30000"/>
            </a:srgbClr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41696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indiqués à droite = contribution au score final agrégé · Early stop si score règles &gt; 0.95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05 — Détection du spoofing &amp; analyse headers (§6.1-6.2)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· DKIM · DMARC · Incohérences de domaine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114800" cy="32004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60120"/>
            <a:ext cx="4114800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 phishing analysé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security@paypa1-secure.xyz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Reply-To: collect@hacker.cc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002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Return-Path: &lt;bounce@other.tk&gt;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Received-SPF: softfail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587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DKIM-Signature: (absent)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Message-ID: &lt;192.168.1.1.xyz&gt;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172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465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Dear customer, verify 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http://paypa1-secure.xyz/login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114800" cy="32004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60120"/>
            <a:ext cx="4114800" cy="365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détectés → score headers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spf_fail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1444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627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softfail → expéditeur non autorisé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dkim_missing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0840" y="1901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0848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signature DKIM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359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domain_mismatch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359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5420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≠ Reply-To (domaine différent)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return_path_mismatch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28163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999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Return-Path ≠ From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ip_in_message_id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20840" y="3273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456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brute dans Message-ID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sender_suspicious_tld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20840" y="3730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3913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.xyz dans From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279392"/>
            <a:ext cx="8503920" cy="50292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279392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headers total : 1.40 → normalisé à </a:t>
            </a:r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(plafonné)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Contribue à 25% du score final → décision : PHISHING CRITIQUE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05 — Score de confiance global &amp; niveaux de menace (§6.4)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pondérée des 4 couches → décision finale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d'agrégation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Score(classe) = 0.20 × règles + 0.25 × headers + 0.35 × ML + 0.20 × BERT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Normalisation → argmax → classe prédite + niveau de menace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9933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menace définis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16002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15768"/>
            <a:ext cx="1600200" cy="16002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= HAM · confiance quelconque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1600200" cy="54864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34747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normale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29968" y="2331720"/>
            <a:ext cx="1600200" cy="384048"/>
          </a:xfrm>
          <a:prstGeom prst="rect">
            <a:avLst/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29968" y="2715768"/>
            <a:ext cx="1600200" cy="16002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103120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Non-ham · confiance &lt; 30%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29968" y="3401568"/>
            <a:ext cx="1600200" cy="54864"/>
          </a:xfrm>
          <a:prstGeom prst="rect">
            <a:avLst/>
          </a:prstGeom>
          <a:solidFill>
            <a:srgbClr val="9FE1CB">
              <a:alpha val="50000"/>
            </a:srgbClr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34747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uniquement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39896" y="2331720"/>
            <a:ext cx="1600200" cy="38404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39896" y="2715768"/>
            <a:ext cx="1600200" cy="16002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13048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Non-ham · confiance 30-50%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39896" y="3401568"/>
            <a:ext cx="1600200" cy="54864"/>
          </a:xfrm>
          <a:prstGeom prst="rect">
            <a:avLst/>
          </a:prstGeom>
          <a:solidFill>
            <a:srgbClr val="EF9F27">
              <a:alpha val="5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34747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tag [SUSPECT]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9824" y="2331720"/>
            <a:ext cx="1600200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9824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9824" y="2715768"/>
            <a:ext cx="1600200" cy="16002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22976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Non-ham · confiance 50-75%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9824" y="3401568"/>
            <a:ext cx="1600200" cy="54864"/>
          </a:xfrm>
          <a:prstGeom prst="rect">
            <a:avLst/>
          </a:prstGeom>
          <a:solidFill>
            <a:srgbClr val="D85A30">
              <a:alpha val="5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34747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admin + quarantaine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59752" y="2331720"/>
            <a:ext cx="1600200" cy="38404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9752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59752" y="2715768"/>
            <a:ext cx="1600200" cy="160020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32904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· confiance &gt; 75%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59752" y="3401568"/>
            <a:ext cx="1600200" cy="54864"/>
          </a:xfrm>
          <a:prstGeom prst="rect">
            <a:avLst/>
          </a:prstGeom>
          <a:solidFill>
            <a:srgbClr val="A32D2D">
              <a:alpha val="50000"/>
            </a:srgbClr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14616" y="34747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critique + blocage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462272"/>
            <a:ext cx="8503920" cy="38404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4462272"/>
            <a:ext cx="54864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: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score règles &gt; 0.95 → décision immédiate sans appel ML (&lt; 1ms). Évite la latence pour les cas évidents.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D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FastAPI &amp; Rapport Final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  ·  §6.5 du cahier de charges  ·  Exposer le système en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 REST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4114800" cy="54864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594360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116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20665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3042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un email → classe + score + flags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4114800" cy="54864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70048"/>
            <a:ext cx="594360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700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2724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962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de 100 emails max · résumé statistique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28416"/>
            <a:ext cx="4114800" cy="54864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28416"/>
            <a:ext cx="59436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284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33832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6210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service + modèles chargés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4114800" cy="54864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86784"/>
            <a:ext cx="59436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867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7552" y="40416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2793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depuis le démarrage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664208"/>
            <a:ext cx="4114800" cy="2926080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664208"/>
            <a:ext cx="4114800" cy="365760"/>
          </a:xfrm>
          <a:prstGeom prst="rect">
            <a:avLst/>
          </a:prstGeom>
          <a:solidFill>
            <a:srgbClr val="0F3B6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664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sans 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21031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9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Installer les dépendances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0" y="2286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24688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2651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9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Lancer le serveur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28346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api.main:app \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017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--reload --port 8000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32004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46320" y="3383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9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Tester (dans un autre terminal)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35661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localhost:8000/analyze \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37490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'Content-Type: application/json' \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'{"text": "Verify NOW: paypa1.xyz"}'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41148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42976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9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Documentation interactive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44805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B5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http://localhost:8000/docs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645152"/>
            <a:ext cx="54864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api/ (5 fichiers) · requirements.txt · README.md · rapport_final.json · 06_rapport_final.png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06 — Rapport comparatif final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03 · NB 04 · NB 05 — Performance · Latence ·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01168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 moy.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Contexte sém.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requis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03 — LinearSVC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E4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04 — DistilBERT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7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7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05 — Pipeline hybride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B5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0906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du cahier de charges — couverture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 Adversariales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1168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Unicode, tests adversariaux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§1.3 Déséquilibre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1168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class weights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§1.4 Faux positifs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11680" y="4251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ham &lt; 3%, seuil calibrable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1772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§1.5 Latence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0.05ms · early stop règles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1772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Overfitting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0936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 · early stopping BERT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1772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§6.4 Alertes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4251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email + logs JSONL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06 — Tests adversariaux &amp; robustesse du système (§5.5)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techniques d'attaque testées sur le pipeline hybride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8503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87552"/>
            <a:ext cx="365760" cy="5669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875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042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 Unicode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280160"/>
            <a:ext cx="640080" cy="182880"/>
          </a:xfrm>
          <a:prstGeom prst="rect">
            <a:avLst/>
          </a:prstGeom>
          <a:solidFill>
            <a:srgbClr val="0A2A3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280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36192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invisibles \u200b dans le texte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10424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par règle invisible_chars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645920"/>
            <a:ext cx="8503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645920"/>
            <a:ext cx="365760" cy="5669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45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17007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Orthographe corrompue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1938528"/>
            <a:ext cx="640080" cy="182880"/>
          </a:xfrm>
          <a:prstGeom prst="rect">
            <a:avLst/>
          </a:prstGeom>
          <a:solidFill>
            <a:srgbClr val="0A2A3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1938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36192" y="1938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Micros0ft, paypa1, verif1cation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0" y="1700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suspect + marque usurpée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304288"/>
            <a:ext cx="8503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304288"/>
            <a:ext cx="365760" cy="5669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304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2359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légitimes insérés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2596896"/>
            <a:ext cx="640080" cy="182880"/>
          </a:xfrm>
          <a:prstGeom prst="rect">
            <a:avLst/>
          </a:prstGeom>
          <a:solidFill>
            <a:srgbClr val="0A2A3A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96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36192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pro pour diluer les signaux spam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difficile → confiance faible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962656"/>
            <a:ext cx="8503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2962656"/>
            <a:ext cx="365760" cy="5669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9626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2960" y="3017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sans URL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3255264"/>
            <a:ext cx="640080" cy="182880"/>
          </a:xfrm>
          <a:prstGeom prst="rect">
            <a:avLst/>
          </a:prstGeom>
          <a:solidFill>
            <a:srgbClr val="0A2A3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536192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pur, pas de lien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connue — nécessite BERT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621024"/>
            <a:ext cx="8503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3621024"/>
            <a:ext cx="365760" cy="5669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6210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22960" y="3675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imitant email pro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" y="3913632"/>
            <a:ext cx="640080" cy="182880"/>
          </a:xfrm>
          <a:prstGeom prst="rect">
            <a:avLst/>
          </a:prstGeom>
          <a:solidFill>
            <a:srgbClr val="0A2A3A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39136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36192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opportunity, 15% monthly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03520" y="3675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détecte les patterns sémantiques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279392"/>
            <a:ext cx="8503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4279392"/>
            <a:ext cx="365760" cy="5669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2793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22960" y="4334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encodée (%xx)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22960" y="4572000"/>
            <a:ext cx="640080" cy="182880"/>
          </a:xfrm>
          <a:prstGeom prst="rect">
            <a:avLst/>
          </a:prstGeom>
          <a:solidFill>
            <a:srgbClr val="0A2A3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4572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536192" y="4572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paypal%2Ecom%2Flogin%2Everify.xyz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03520" y="4334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suspect détecté après décodage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4956048"/>
            <a:ext cx="8503920" cy="20116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adversariale : 4/6 (67%) — Les 2 échecs documentés justifient l'ajout d'OCR et d'analyse comportementale (perspectives)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34440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du projet complet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01–06  ·  3 semaines  ·  ENSPY 5GI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Spam &amp; Phishing  |  ENSPY 5GI  |  Nghogué Taptué Franck Roddier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réalisé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691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 classes (ham · spam · phishing)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039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nettoyage + TF-IDF + 19 features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386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class weights → déséquilibre traité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734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: F1=0.93, latence 0.05ms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164592" cy="164592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081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fine-tuné : F1=0.95, contexte sém.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456432"/>
            <a:ext cx="164592" cy="16459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hybride 4 couches : F1=0.94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03904"/>
            <a:ext cx="164592" cy="16459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776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headers SPF/DKIM/DMARC + spoofing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51376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4123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4 endpoints + alertes email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498848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471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adversariaux : 4/6 attaques bloquées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389888"/>
            <a:ext cx="0" cy="3474720"/>
          </a:xfrm>
          <a:prstGeom prst="line">
            <a:avLst/>
          </a:prstGeom>
          <a:noFill/>
          <a:ln w="6350">
            <a:solidFill>
              <a:srgbClr val="1BB5C5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89204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1719072"/>
            <a:ext cx="3931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1719072"/>
            <a:ext cx="54864" cy="5669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7739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sur images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URLs cachées dans les pièces jointes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2377440"/>
            <a:ext cx="3931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2377440"/>
            <a:ext cx="54864" cy="5669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4323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DNSBL temps réel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Réputation IP dynamique via APIs externes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3035808"/>
            <a:ext cx="3931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92040" y="3035808"/>
            <a:ext cx="54864" cy="5669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0906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continu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33284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JSONL → pipeline de réentraînement auto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3694176"/>
            <a:ext cx="3931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92040" y="3694176"/>
            <a:ext cx="54864" cy="5669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749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multilingue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74920" y="3986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pour emails en français, arabe…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92040" y="4352544"/>
            <a:ext cx="3931920" cy="566928"/>
          </a:xfrm>
          <a:prstGeom prst="rect">
            <a:avLst/>
          </a:prstGeom>
          <a:solidFill>
            <a:srgbClr val="132338"/>
          </a:solidFill>
          <a:ln w="6350">
            <a:solidFill>
              <a:srgbClr val="1BB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92040" y="4352544"/>
            <a:ext cx="54864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4407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monitoring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74920" y="4645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menaces en temps réel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Intelligent de Détection de Spam et de Phishing — NB 01-06</dc:title>
  <dc:subject>PptxGenJS Presentation</dc:subject>
  <dc:creator>Nghogué Taptué Franck Roddier</dc:creator>
  <cp:lastModifiedBy>Nghogué Taptué Franck Roddier</cp:lastModifiedBy>
  <cp:revision>1</cp:revision>
  <dcterms:created xsi:type="dcterms:W3CDTF">2026-04-19T07:44:04Z</dcterms:created>
  <dcterms:modified xsi:type="dcterms:W3CDTF">2026-04-19T07:44:04Z</dcterms:modified>
</cp:coreProperties>
</file>